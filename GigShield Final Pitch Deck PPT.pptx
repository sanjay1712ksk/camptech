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1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Weekly Premium (₹)</c:v>
                </c:pt>
              </c:strCache>
            </c:strRef>
          </c:tx>
          <c:spPr>
            <a:solidFill>
              <a:srgbClr val="00C9B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Mon</c:v>
                </c:pt>
                <c:pt idx="1">
                  <c:v>Tue</c:v>
                </c:pt>
                <c:pt idx="2">
                  <c:v>Wed</c:v>
                </c:pt>
                <c:pt idx="3">
                  <c:v>Thu</c:v>
                </c:pt>
                <c:pt idx="4">
                  <c:v>Fri</c:v>
                </c:pt>
                <c:pt idx="5">
                  <c:v>Sat</c:v>
                </c:pt>
                <c:pt idx="6">
                  <c:v>Sun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</c:v>
                </c:pt>
                <c:pt idx="1">
                  <c:v>180</c:v>
                </c:pt>
                <c:pt idx="2">
                  <c:v>240</c:v>
                </c:pt>
                <c:pt idx="3">
                  <c:v>160</c:v>
                </c:pt>
                <c:pt idx="4">
                  <c:v>300</c:v>
                </c:pt>
                <c:pt idx="5">
                  <c:v>260</c:v>
                </c:pt>
                <c:pt idx="6">
                  <c:v>140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EDB-4141-A0FC-C4AF7FE457C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A7C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C3A6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A7C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204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F5E60-A58B-D14C-BE12-C4EFA174B586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E41D12-560C-3840-9F8E-30882375FA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8346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8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-1371600"/>
            <a:ext cx="5943600" cy="5943600"/>
          </a:xfrm>
          <a:prstGeom prst="ellipse">
            <a:avLst/>
          </a:prstGeom>
          <a:solidFill>
            <a:srgbClr val="00C9B1">
              <a:alpha val="12000"/>
            </a:srgbClr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-731520"/>
            <a:ext cx="4114800" cy="4114800"/>
          </a:xfrm>
          <a:prstGeom prst="ellipse">
            <a:avLst/>
          </a:prstGeom>
          <a:solidFill>
            <a:srgbClr val="00C9B1">
              <a:alpha val="22000"/>
            </a:srgbClr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731520"/>
            <a:ext cx="2011680" cy="2011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00584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GigShield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548640" y="205740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8E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Income Protection for Gig Workers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834640"/>
            <a:ext cx="5029200" cy="457200"/>
          </a:xfrm>
          <a:prstGeom prst="rect">
            <a:avLst/>
          </a:prstGeom>
          <a:solidFill>
            <a:srgbClr val="00C9B1">
              <a:alpha val="15000"/>
            </a:srgbClr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2834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0C9B1"/>
                </a:solidFill>
              </a:rPr>
              <a:t>"Protecting daily earnings with real-time intelligence"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0C9B1">
              <a:alpha val="80000"/>
            </a:srgbClr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040"/>
                </a:solidFill>
              </a:rPr>
              <a:t>Parametric Insurance  ·  Real-Time AI  ·  Zero-Touch Claims</a:t>
            </a:r>
            <a:endParaRPr lang="en-US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6D00AC-7DA4-9E7C-194C-957113037B97}"/>
              </a:ext>
            </a:extLst>
          </p:cNvPr>
          <p:cNvSpPr txBox="1"/>
          <p:nvPr/>
        </p:nvSpPr>
        <p:spPr>
          <a:xfrm>
            <a:off x="466928" y="3456562"/>
            <a:ext cx="41050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>
                <a:solidFill>
                  <a:schemeClr val="bg1"/>
                </a:solidFill>
              </a:rPr>
              <a:t>Team Name: </a:t>
            </a:r>
            <a:r>
              <a:rPr lang="en-IN" sz="1200" dirty="0">
                <a:solidFill>
                  <a:schemeClr val="bg1"/>
                </a:solidFill>
              </a:rPr>
              <a:t>Astha Bhatia</a:t>
            </a:r>
            <a:br>
              <a:rPr lang="en-IN" sz="1200" dirty="0">
                <a:solidFill>
                  <a:schemeClr val="bg1"/>
                </a:solidFill>
              </a:rPr>
            </a:br>
            <a:r>
              <a:rPr lang="en-IN" sz="1200" b="1" dirty="0">
                <a:solidFill>
                  <a:schemeClr val="bg1"/>
                </a:solidFill>
              </a:rPr>
              <a:t>Team Members</a:t>
            </a:r>
          </a:p>
          <a:p>
            <a:r>
              <a:rPr lang="en-IN" sz="1200" dirty="0">
                <a:solidFill>
                  <a:schemeClr val="bg1"/>
                </a:solidFill>
              </a:rPr>
              <a:t>	Astha Bhatia – </a:t>
            </a:r>
            <a:r>
              <a:rPr lang="en-IN" sz="1200" b="1" dirty="0">
                <a:solidFill>
                  <a:schemeClr val="bg1"/>
                </a:solidFill>
              </a:rPr>
              <a:t>Team Leader</a:t>
            </a:r>
          </a:p>
          <a:p>
            <a:r>
              <a:rPr lang="en-IN" sz="1200" dirty="0">
                <a:solidFill>
                  <a:schemeClr val="bg1"/>
                </a:solidFill>
              </a:rPr>
              <a:t>	Jahanvi</a:t>
            </a:r>
          </a:p>
          <a:p>
            <a:r>
              <a:rPr lang="en-IN" sz="1200" dirty="0">
                <a:solidFill>
                  <a:schemeClr val="bg1"/>
                </a:solidFill>
              </a:rPr>
              <a:t>	Surbhi Kaushal</a:t>
            </a:r>
          </a:p>
          <a:p>
            <a:r>
              <a:rPr lang="en-IN" sz="1200">
                <a:solidFill>
                  <a:schemeClr val="bg1"/>
                </a:solidFill>
              </a:rPr>
              <a:t>	Sanjay Kumar  </a:t>
            </a:r>
            <a:r>
              <a:rPr lang="en-IN" sz="1200" dirty="0">
                <a:solidFill>
                  <a:schemeClr val="bg1"/>
                </a:solidFill>
              </a:rPr>
              <a:t>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PROBLEM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 Workers Have No Safety Net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5029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DE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18488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50876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</a:rPr>
              <a:t>Unpredictable income loss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97280" y="1874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7C0"/>
                </a:solidFill>
              </a:rPr>
              <a:t>No consistent earnings guarantee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5760" y="2514600"/>
            <a:ext cx="5029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DE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15768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260604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</a:rPr>
              <a:t>Environmental disruptions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097280" y="2971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7C0"/>
                </a:solidFill>
              </a:rPr>
              <a:t>Rain 🌧  ·  Traffic 🚦  ·  Poor AQI 🌫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65760" y="3611880"/>
            <a:ext cx="5029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DE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813048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97280" y="3703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</a:rPr>
              <a:t>No existing protection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097280" y="4069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7C0"/>
                </a:solidFill>
              </a:rPr>
              <a:t>Traditional insurance doesn't cover daily wages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669280" y="1234440"/>
            <a:ext cx="3200400" cy="3429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5669280" y="1371600"/>
            <a:ext cx="3200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No system today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protects daily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wage loss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in real-time</a:t>
            </a:r>
            <a:endParaRPr lang="en-US" sz="2000" dirty="0"/>
          </a:p>
        </p:txBody>
      </p:sp>
      <p:sp>
        <p:nvSpPr>
          <p:cNvPr id="20" name="Shape 15"/>
          <p:cNvSpPr/>
          <p:nvPr/>
        </p:nvSpPr>
        <p:spPr>
          <a:xfrm>
            <a:off x="5669280" y="3566160"/>
            <a:ext cx="3200400" cy="10972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669280" y="35661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$500B+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gig economy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underprotected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SOLUTION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GigShield = Real-Time Parametric Insurance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2697480" cy="310896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691640"/>
            <a:ext cx="685800" cy="685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24688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Detects disruptions automatically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2920" y="32461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8E6E2"/>
                </a:solidFill>
              </a:rPr>
              <a:t>Weather, AQI, Traffic — no manual input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463040"/>
            <a:ext cx="2697480" cy="310896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691640"/>
            <a:ext cx="685800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29000" y="24688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Calculates income loss instantly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429000" y="32461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8E6E2"/>
                </a:solidFill>
              </a:rPr>
              <a:t>Converts environment → delivery efficiency → loss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17920" y="1463040"/>
            <a:ext cx="2697480" cy="310896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691640"/>
            <a:ext cx="685800" cy="6858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355080" y="24688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Triggers payouts with zero manual claims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355080" y="32461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8E6E2"/>
                </a:solidFill>
              </a:rPr>
              <a:t>Fully automated from detection to credit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9B1"/>
                </a:solidFill>
              </a:rPr>
              <a:t>👉 Fully automated protection system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INNOVATION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Just Predict Risk. We Map It.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1828800" cy="11887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46304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Environment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Data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48840" y="1920240"/>
            <a:ext cx="365760" cy="274320"/>
          </a:xfrm>
          <a:prstGeom prst="rect">
            <a:avLst/>
          </a:prstGeom>
          <a:solidFill>
            <a:srgbClr val="8BA7C0"/>
          </a:solidFill>
          <a:ln w="12700">
            <a:solidFill>
              <a:srgbClr val="8BA7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0" y="1463040"/>
            <a:ext cx="1828800" cy="1188720"/>
          </a:xfrm>
          <a:prstGeom prst="rect">
            <a:avLst/>
          </a:prstGeom>
          <a:solidFill>
            <a:srgbClr val="009E8C"/>
          </a:solidFill>
          <a:ln w="12700">
            <a:solidFill>
              <a:srgbClr val="009E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4600" y="146304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Delivery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Efficiency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43400" y="1920240"/>
            <a:ext cx="365760" cy="274320"/>
          </a:xfrm>
          <a:prstGeom prst="rect">
            <a:avLst/>
          </a:prstGeom>
          <a:solidFill>
            <a:srgbClr val="8BA7C0"/>
          </a:solidFill>
          <a:ln w="12700">
            <a:solidFill>
              <a:srgbClr val="8BA7C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1463040"/>
            <a:ext cx="1828800" cy="1188720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146304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Income Loss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Mapping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37960" y="1920240"/>
            <a:ext cx="365760" cy="274320"/>
          </a:xfrm>
          <a:prstGeom prst="rect">
            <a:avLst/>
          </a:prstGeom>
          <a:solidFill>
            <a:srgbClr val="8BA7C0"/>
          </a:solidFill>
          <a:ln w="12700">
            <a:solidFill>
              <a:srgbClr val="8BA7C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03720" y="1463040"/>
            <a:ext cx="1828800" cy="11887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03720" y="146304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Auto-Trigger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Claims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28803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</a:rPr>
              <a:t>What sets our AI apart: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65760" y="3246120"/>
            <a:ext cx="5029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A1628"/>
                </a:solidFill>
              </a:rPr>
              <a:t>Explainable AI — not black-box ML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A1628"/>
                </a:solidFill>
              </a:rPr>
              <a:t>Converts environment → efficiency → income loss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A1628"/>
                </a:solidFill>
              </a:rPr>
              <a:t>Every payout decision is traceable &amp; auditable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A1628"/>
                </a:solidFill>
              </a:rPr>
              <a:t>Hyper-local, real-time intelligence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0" y="2834640"/>
            <a:ext cx="3200400" cy="192024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0" y="283464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9B1"/>
                </a:solidFill>
              </a:rPr>
              <a:t>Explainable AI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00C9B1"/>
                </a:solidFill>
              </a:rPr>
              <a:t>= Trust at Scale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HOW IT WORKS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Automated Pipeline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2651760" cy="123444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73352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167335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1. Weather + AQI + Traffic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91840" y="1371600"/>
            <a:ext cx="2651760" cy="123444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167335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77640" y="167335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2. Disruption Model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17920" y="1371600"/>
            <a:ext cx="2651760" cy="123444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673352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167335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3. Delivery Efficiency ↓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365760" y="2926080"/>
            <a:ext cx="2651760" cy="123444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227832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51560" y="322783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4. Income Loss Calculation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3291840" y="2926080"/>
            <a:ext cx="2651760" cy="123444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0" y="3227832"/>
            <a:ext cx="457200" cy="4572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3977640" y="322783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5. Risk Score + Triggers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6217920" y="2926080"/>
            <a:ext cx="2651760" cy="123444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5080" y="3227832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6903720" y="322783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6. Auto Claim + Payout</a:t>
            </a:r>
            <a:endParaRPr lang="en-US" sz="1200" dirty="0"/>
          </a:p>
        </p:txBody>
      </p:sp>
      <p:sp>
        <p:nvSpPr>
          <p:cNvPr id="24" name="Shape 16"/>
          <p:cNvSpPr/>
          <p:nvPr/>
        </p:nvSpPr>
        <p:spPr>
          <a:xfrm>
            <a:off x="6217920" y="4160520"/>
            <a:ext cx="2651760" cy="457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FEATURES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Pillars of GigShield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DE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0020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58191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</a:rPr>
              <a:t>Dynamic Weekly Premium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21031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7C0"/>
                </a:solidFill>
              </a:rPr>
              <a:t>Risk-adaptive pricing aligned to gig income cycles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1417320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DE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16002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31920" y="158191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</a:rPr>
              <a:t>Hyper-Local Analysis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429000" y="21031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7C0"/>
                </a:solidFill>
              </a:rPr>
              <a:t>Street-level disruption detection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17920" y="1417320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DE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60020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03720" y="158191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</a:rPr>
              <a:t>Predictive Risk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6400800" y="21031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7C0"/>
                </a:solidFill>
              </a:rPr>
              <a:t>Next-few-hours income risk forecasting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274320" y="3108960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DE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291840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60120" y="327355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</a:rPr>
              <a:t>Parametric Triggers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457200" y="37947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7C0"/>
                </a:solidFill>
              </a:rPr>
              <a:t>Automated thresholds — no manual filing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3246120" y="3108960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DE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0" y="3291840"/>
            <a:ext cx="411480" cy="4114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3931920" y="327355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</a:rPr>
              <a:t>Fraud Detection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3429000" y="37947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7C0"/>
                </a:solidFill>
              </a:rPr>
              <a:t>Behavior, location &amp; duplicate checks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6217920" y="3108960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DE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3291840"/>
            <a:ext cx="411480" cy="4114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903720" y="327355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</a:rPr>
              <a:t>Zero-Touch Claims</a:t>
            </a:r>
            <a:endParaRPr lang="en-US" sz="1200" dirty="0"/>
          </a:p>
        </p:txBody>
      </p:sp>
      <p:sp>
        <p:nvSpPr>
          <p:cNvPr id="29" name="Text 21"/>
          <p:cNvSpPr/>
          <p:nvPr/>
        </p:nvSpPr>
        <p:spPr>
          <a:xfrm>
            <a:off x="6400800" y="37947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7C0"/>
                </a:solidFill>
              </a:rPr>
              <a:t>End-to-end automation from event to payout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PREMIUM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Premium Adapts to Risk</a:t>
            </a:r>
            <a:endParaRPr lang="en-US" sz="28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365760" y="1280160"/>
          <a:ext cx="50292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566928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B1"/>
                </a:solidFill>
              </a:rPr>
              <a:t>How it's calculated: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669280" y="1783080"/>
            <a:ext cx="3108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Based on real-time risk score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Reflects income patterns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High-risk periods → higher premium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Low-risk periods → lower premium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Matches gig workers' weekly cycle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CLAIMS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Zero-Touch Automated Claims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362456"/>
            <a:ext cx="457200" cy="457200"/>
          </a:xfrm>
          <a:prstGeom prst="ellipse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362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85216" y="1828800"/>
            <a:ext cx="0" cy="210312"/>
          </a:xfrm>
          <a:prstGeom prst="line">
            <a:avLst/>
          </a:prstGeom>
          <a:noFill/>
          <a:ln w="19050">
            <a:solidFill>
              <a:srgbClr val="8BA7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1371600"/>
            <a:ext cx="4114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D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3716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</a:rPr>
              <a:t>Income Drop Detected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2029968"/>
            <a:ext cx="457200" cy="457200"/>
          </a:xfrm>
          <a:prstGeom prst="ellipse">
            <a:avLst/>
          </a:prstGeom>
          <a:solidFill>
            <a:srgbClr val="009E8C"/>
          </a:solidFill>
          <a:ln w="12700">
            <a:solidFill>
              <a:srgbClr val="009E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85216" y="2496312"/>
            <a:ext cx="0" cy="210312"/>
          </a:xfrm>
          <a:prstGeom prst="line">
            <a:avLst/>
          </a:prstGeom>
          <a:noFill/>
          <a:ln w="19050">
            <a:solidFill>
              <a:srgbClr val="8BA7C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2039112"/>
            <a:ext cx="4114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D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20391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E8C"/>
                </a:solidFill>
              </a:rPr>
              <a:t>Active Disruption Verified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697480"/>
            <a:ext cx="457200" cy="457200"/>
          </a:xfrm>
          <a:prstGeom prst="ellipse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85216" y="3163824"/>
            <a:ext cx="0" cy="210312"/>
          </a:xfrm>
          <a:prstGeom prst="line">
            <a:avLst/>
          </a:prstGeom>
          <a:noFill/>
          <a:ln w="19050">
            <a:solidFill>
              <a:srgbClr val="8BA7C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" y="2706624"/>
            <a:ext cx="4114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D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270662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B1"/>
                </a:solidFill>
              </a:rPr>
              <a:t>Claim Auto-Triggered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3364992"/>
            <a:ext cx="457200" cy="457200"/>
          </a:xfrm>
          <a:prstGeom prst="ellipse">
            <a:avLst/>
          </a:prstGeom>
          <a:solidFill>
            <a:srgbClr val="0D2040"/>
          </a:solidFill>
          <a:ln w="12700">
            <a:solidFill>
              <a:srgbClr val="0D20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364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85216" y="3831336"/>
            <a:ext cx="0" cy="210312"/>
          </a:xfrm>
          <a:prstGeom prst="line">
            <a:avLst/>
          </a:prstGeom>
          <a:noFill/>
          <a:ln w="19050">
            <a:solidFill>
              <a:srgbClr val="8BA7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" y="3374136"/>
            <a:ext cx="4114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DE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337413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040"/>
                </a:solidFill>
              </a:rPr>
              <a:t>Fraud Checks (instant)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4032504"/>
            <a:ext cx="457200" cy="457200"/>
          </a:xfrm>
          <a:prstGeom prst="ellipse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32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005840" y="4041648"/>
            <a:ext cx="4114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D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40416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35"/>
                </a:solidFill>
              </a:rPr>
              <a:t>Payout Credited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0" y="1325880"/>
            <a:ext cx="3383280" cy="33832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0" y="146304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9B1"/>
                </a:solidFill>
              </a:rPr>
              <a:t>No Manual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00C9B1"/>
                </a:solidFill>
              </a:rPr>
              <a:t>Filing.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00C9B1"/>
                </a:solidFill>
              </a:rPr>
              <a:t>Ever.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5577840" y="30632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8E6E2"/>
                </a:solidFill>
              </a:rPr>
              <a:t>The system detects, verifies,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8E6E2"/>
                </a:solidFill>
              </a:rPr>
              <a:t>and pays — automatically.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FRAUD PREVENTION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Built In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3931920" cy="141732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19072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Location Validation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9933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E6E2"/>
                </a:solidFill>
              </a:rPr>
              <a:t>Confirms worker was in the affected zone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3931920" cy="141732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719072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Environmental Verification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486400" y="19933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E6E2"/>
                </a:solidFill>
              </a:rPr>
              <a:t>Cross-checks weather, AQI, traffic data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65760" y="3017520"/>
            <a:ext cx="3931920" cy="141732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364992"/>
            <a:ext cx="5029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88720" y="3200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Behavior Analysis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188720" y="363931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E6E2"/>
                </a:solidFill>
              </a:rPr>
              <a:t>Flags anomalous claim patterns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663440" y="3017520"/>
            <a:ext cx="3931920" cy="141732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3364992"/>
            <a:ext cx="502920" cy="5029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486400" y="3200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Duplicate Detection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5486400" y="363931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E6E2"/>
                </a:solidFill>
              </a:rPr>
              <a:t>Prevents repeat or double claims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B1"/>
                </a:solidFill>
              </a:rPr>
              <a:t>👉 Ensures trust + system integrity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BLOCKCHAIN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NBFLite — Transparent &amp; Tamper-Proof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26517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DE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691640"/>
            <a:ext cx="594360" cy="594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1628"/>
                </a:solidFill>
              </a:rPr>
              <a:t>Policy Storage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02920" y="28529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BA7C0"/>
                </a:solidFill>
              </a:rPr>
              <a:t>Immutable insurance records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46120" y="1463040"/>
            <a:ext cx="26517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DE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691640"/>
            <a:ext cx="594360" cy="5943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8328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1628"/>
                </a:solidFill>
              </a:rPr>
              <a:t>Claim Records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383280" y="28529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BA7C0"/>
                </a:solidFill>
              </a:rPr>
              <a:t>Every claim logged on-chain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26480" y="1463040"/>
            <a:ext cx="26517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DE9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1691640"/>
            <a:ext cx="594360" cy="5943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26364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1628"/>
                </a:solidFill>
              </a:rPr>
              <a:t>Payout Logs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263640" y="28529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BA7C0"/>
                </a:solidFill>
              </a:rPr>
              <a:t>Full audit trail for every disbursement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365760" y="4206240"/>
            <a:ext cx="8412480" cy="54864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365760" y="42062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9B1"/>
                </a:solidFill>
              </a:rPr>
              <a:t>Transparent · Tamper-Proof · Auditable by anyone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PRODUCT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Gig Workers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3931920" cy="146304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09928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52704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Mobile-First App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9476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E6E2"/>
                </a:solidFill>
              </a:rPr>
              <a:t>Designed for on-the-go workers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325880"/>
            <a:ext cx="3931920" cy="146304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709928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152704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Real-Time Risk Dashboard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486400" y="19476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E6E2"/>
                </a:solidFill>
              </a:rPr>
              <a:t>Live risk score + disruption map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65760" y="3017520"/>
            <a:ext cx="3931920" cy="146304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401568"/>
            <a:ext cx="5029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88720" y="321868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AI Engine Visualizer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188720" y="363931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E6E2"/>
                </a:solidFill>
              </a:rPr>
              <a:t>Transparent model insights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663440" y="3017520"/>
            <a:ext cx="3931920" cy="146304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3401568"/>
            <a:ext cx="502920" cy="5029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486400" y="321868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Seamless Onboarding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5486400" y="363931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E6E2"/>
                </a:solidFill>
              </a:rPr>
              <a:t>Connect gig account in minutes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DIFFERENTIATORS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GigShield Stands Out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502920" cy="640080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3716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</a:rPr>
              <a:t>01</a:t>
            </a:r>
            <a:endParaRPr lang="en-US" sz="16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46304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00200" y="140817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</a:rPr>
              <a:t>Explainable AI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60020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BA7C0"/>
                </a:solidFill>
              </a:rPr>
              <a:t>Not a black-box — every decision is traceable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240280"/>
            <a:ext cx="502920" cy="640080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" y="22402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</a:rPr>
              <a:t>02</a:t>
            </a:r>
            <a:endParaRPr lang="en-US" sz="16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33172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00200" y="227685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</a:rPr>
              <a:t>Direct Income Impact Mapping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60020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BA7C0"/>
                </a:solidFill>
              </a:rPr>
              <a:t>We calculate exact rupee loss, not probability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</a:rPr>
              <a:t>03</a:t>
            </a:r>
            <a:endParaRPr lang="en-US" sz="16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3200400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00200" y="314553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</a:rPr>
              <a:t>Fully Automated Insurance Flow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60020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BA7C0"/>
                </a:solidFill>
              </a:rPr>
              <a:t>From disruption to payout — zero human intervention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365760" y="3977640"/>
            <a:ext cx="502920" cy="640080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65760" y="39776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</a:rPr>
              <a:t>04</a:t>
            </a:r>
            <a:endParaRPr lang="en-US" sz="160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406908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600200" y="401421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</a:rPr>
              <a:t>Real-Time + Hyper-Local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1600200" y="4343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BA7C0"/>
                </a:solidFill>
              </a:rPr>
              <a:t>Street-level, minute-by-minute intelligence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5577840" y="1325880"/>
            <a:ext cx="3291840" cy="33832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577840" y="15544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No competitor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combines all four.</a:t>
            </a:r>
            <a:endParaRPr lang="en-US" sz="1900" dirty="0"/>
          </a:p>
        </p:txBody>
      </p:sp>
      <p:sp>
        <p:nvSpPr>
          <p:cNvPr id="28" name="Shape 22"/>
          <p:cNvSpPr/>
          <p:nvPr/>
        </p:nvSpPr>
        <p:spPr>
          <a:xfrm>
            <a:off x="5577840" y="2926080"/>
            <a:ext cx="3291840" cy="1783080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5577840" y="297180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1628"/>
                </a:solidFill>
              </a:rPr>
              <a:t>GigShield is the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A1628"/>
                </a:solidFill>
              </a:rPr>
              <a:t>only fully-automated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A1628"/>
                </a:solidFill>
              </a:rPr>
              <a:t>parametric gig insurer.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DEMO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User Experiences GigShield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1965960" cy="141732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435608"/>
            <a:ext cx="411480" cy="411480"/>
          </a:xfrm>
          <a:prstGeom prst="ellipse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435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94767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User logs 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1325880"/>
            <a:ext cx="1965960" cy="141732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435608"/>
            <a:ext cx="411480" cy="411480"/>
          </a:xfrm>
          <a:prstGeom prst="ellipse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1435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194767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Connects gig account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325880"/>
            <a:ext cx="1965960" cy="141732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94960" y="1435608"/>
            <a:ext cx="411480" cy="411480"/>
          </a:xfrm>
          <a:prstGeom prst="ellipse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0" y="1435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194767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Risk calculated live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0" y="1325880"/>
            <a:ext cx="1965960" cy="141732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89520" y="1435608"/>
            <a:ext cx="411480" cy="411480"/>
          </a:xfrm>
          <a:prstGeom prst="ellipse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89520" y="14356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49440" y="194767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Premium generated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3017520"/>
            <a:ext cx="1965960" cy="141732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5840" y="3127248"/>
            <a:ext cx="411480" cy="411480"/>
          </a:xfrm>
          <a:prstGeom prst="ellipse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363931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Policy activated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468880" y="3017520"/>
            <a:ext cx="1965960" cy="141732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3127248"/>
            <a:ext cx="411480" cy="411480"/>
          </a:xfrm>
          <a:prstGeom prst="ellipse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560320" y="363931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Disruption occurs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63440" y="3017520"/>
            <a:ext cx="1965960" cy="1417320"/>
          </a:xfrm>
          <a:prstGeom prst="rect">
            <a:avLst/>
          </a:prstGeom>
          <a:solidFill>
            <a:srgbClr val="0D2040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94960" y="3127248"/>
            <a:ext cx="411480" cy="411480"/>
          </a:xfrm>
          <a:prstGeom prst="ellipse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9496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754880" y="363931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Claim auto-triggered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858000" y="3017520"/>
            <a:ext cx="1965960" cy="14173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589520" y="3127248"/>
            <a:ext cx="411480" cy="411480"/>
          </a:xfrm>
          <a:prstGeom prst="ellipse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8952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49440" y="3639312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Payout credited 💸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00C9B1"/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1628"/>
                </a:solidFill>
              </a:rPr>
              <a:t>VISION</a:t>
            </a:r>
            <a:endParaRPr lang="en-US" sz="9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640080"/>
            <a:ext cx="1280160" cy="1280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01168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1628"/>
                </a:solidFill>
              </a:rPr>
              <a:t>To build a real-time financial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0A1628"/>
                </a:solidFill>
              </a:rPr>
              <a:t>safety net for millions of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0A1628"/>
                </a:solidFill>
              </a:rPr>
              <a:t>gig workers globally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365760" y="4069080"/>
            <a:ext cx="8412480" cy="713232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406908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0C9B1"/>
                </a:solidFill>
              </a:rPr>
              <a:t>Protecting the world's 1.1 billion gig workers — one payout at a time.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286000"/>
            <a:ext cx="5486400" cy="5486400"/>
          </a:xfrm>
          <a:prstGeom prst="ellipse">
            <a:avLst/>
          </a:prstGeom>
          <a:solidFill>
            <a:srgbClr val="00C9B1">
              <a:alpha val="12000"/>
            </a:srgbClr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-1371600"/>
            <a:ext cx="5029200" cy="5029200"/>
          </a:xfrm>
          <a:prstGeom prst="ellipse">
            <a:avLst/>
          </a:prstGeom>
          <a:solidFill>
            <a:srgbClr val="00C9B1">
              <a:alpha val="18000"/>
            </a:srgbClr>
          </a:solidFill>
          <a:ln w="12700">
            <a:solidFill>
              <a:srgbClr val="00C9B1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64008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</a:rPr>
              <a:t>GigShield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457200" y="2606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00C9B1"/>
                </a:solidFill>
              </a:rPr>
              <a:t>transforms uncertainty into protection.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828800" y="3383280"/>
            <a:ext cx="5486400" cy="54864"/>
          </a:xfrm>
          <a:prstGeom prst="rect">
            <a:avLst/>
          </a:prstGeom>
          <a:solidFill>
            <a:srgbClr val="00C9B1">
              <a:alpha val="40000"/>
            </a:srgbClr>
          </a:solidFill>
          <a:ln w="12700">
            <a:solidFill>
              <a:srgbClr val="00C9B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8E6E2"/>
                </a:solidFill>
              </a:rPr>
              <a:t>Thank you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620</Words>
  <Application>Microsoft Office PowerPoint</Application>
  <PresentationFormat>On-screen Show (16:9)</PresentationFormat>
  <Paragraphs>187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GigShield</dc:title>
  <dc:subject>PptxGenJS Presentation</dc:subject>
  <dc:creator>PptxGenJS</dc:creator>
  <cp:lastModifiedBy>Sanjay Kumar</cp:lastModifiedBy>
  <cp:revision>3</cp:revision>
  <dcterms:created xsi:type="dcterms:W3CDTF">2026-04-17T16:27:55Z</dcterms:created>
  <dcterms:modified xsi:type="dcterms:W3CDTF">2026-04-17T17:21:01Z</dcterms:modified>
</cp:coreProperties>
</file>